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731520"/>
            <a:ext cx="2286000" cy="2286000"/>
          </a:xfrm>
          <a:prstGeom prst="ellipse">
            <a:avLst/>
          </a:prstGeom>
          <a:solidFill>
            <a:srgbClr val="0E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1371600"/>
            <a:ext cx="1645920" cy="1645920"/>
          </a:xfrm>
          <a:prstGeom prst="ellipse">
            <a:avLst/>
          </a:prstGeom>
          <a:solidFill>
            <a:srgbClr val="0A2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029200"/>
            <a:ext cx="1828800" cy="1828800"/>
          </a:xfrm>
          <a:prstGeom prst="ellipse">
            <a:avLst/>
          </a:prstGeom>
          <a:solidFill>
            <a:srgbClr val="0E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东华软件股份公司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D4FF"/>
                </a:solidFill>
                <a:latin typeface="Microsoft YaHei"/>
              </a:defRPr>
            </a:pPr>
            <a:r>
              <a:t>DHC SOFTWARE CO., LTD.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017520"/>
            <a:ext cx="2743200" cy="50800"/>
          </a:xfrm>
          <a:prstGeom prst="rect">
            <a:avLst/>
          </a:prstGeom>
          <a:solidFill>
            <a:srgbClr val="00F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474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B0C4DE"/>
                </a:solidFill>
                <a:latin typeface="Microsoft YaHei"/>
              </a:defRPr>
            </a:pPr>
            <a:r>
              <a:t>企业智能化解决方案提供商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4572000"/>
            <a:ext cx="5029200" cy="1097280"/>
          </a:xfrm>
          <a:prstGeom prst="roundRect">
            <a:avLst/>
          </a:prstGeom>
          <a:solidFill>
            <a:srgbClr val="11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4663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FFC8"/>
                </a:solidFill>
                <a:latin typeface="Microsoft YaHei"/>
              </a:defRPr>
            </a:pPr>
            <a:r>
              <a:t>⭐ 重点产品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029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OpenSoulMate — 下一代智能 AI Agent 平台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6217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B8D"/>
                </a:solidFill>
                <a:latin typeface="Microsoft YaHei"/>
              </a:defRPr>
            </a:pPr>
            <a:r>
              <a:t>2025年度 | 企业介绍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目录 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63040"/>
            <a:ext cx="1828800" cy="38100"/>
          </a:xfrm>
          <a:prstGeom prst="rect">
            <a:avLst/>
          </a:prstGeom>
          <a:solidFill>
            <a:srgbClr val="00F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2286000"/>
            <a:ext cx="731520" cy="457200"/>
          </a:xfrm>
          <a:prstGeom prst="roundRect">
            <a:avLst/>
          </a:prstGeom>
          <a:solidFill>
            <a:srgbClr val="0E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2860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FFC8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公司概况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B8D"/>
                </a:solidFill>
                <a:latin typeface="Microsoft YaHei"/>
              </a:defRPr>
            </a:pPr>
            <a:r>
              <a:t>Company Overview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880360"/>
            <a:ext cx="731520" cy="457200"/>
          </a:xfrm>
          <a:prstGeom prst="roundRect">
            <a:avLst/>
          </a:prstGeom>
          <a:solidFill>
            <a:srgbClr val="0E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8803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FFC8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880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核心业务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880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B8D"/>
                </a:solidFill>
                <a:latin typeface="Microsoft YaHei"/>
              </a:defRPr>
            </a:pPr>
            <a:r>
              <a:t>Core Business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3474720"/>
            <a:ext cx="731520" cy="457200"/>
          </a:xfrm>
          <a:prstGeom prst="roundRect">
            <a:avLst/>
          </a:prstGeom>
          <a:solidFill>
            <a:srgbClr val="0E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34747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FFC8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3474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技术实力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474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B8D"/>
                </a:solidFill>
                <a:latin typeface="Microsoft YaHei"/>
              </a:defRPr>
            </a:pPr>
            <a:r>
              <a:t>Technical Strength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4069080"/>
            <a:ext cx="731520" cy="457200"/>
          </a:xfrm>
          <a:prstGeom prst="roundRect">
            <a:avLst/>
          </a:prstGeom>
          <a:solidFill>
            <a:srgbClr val="0E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40690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FFC8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4069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OpenSoulMate 项目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069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B8D"/>
                </a:solidFill>
                <a:latin typeface="Microsoft YaHei"/>
              </a:defRPr>
            </a:pPr>
            <a:r>
              <a:t>AI Agent Platform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1600" y="4663440"/>
            <a:ext cx="731520" cy="457200"/>
          </a:xfrm>
          <a:prstGeom prst="roundRect">
            <a:avLst/>
          </a:prstGeom>
          <a:solidFill>
            <a:srgbClr val="0E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46634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FFC8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4663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项目核心能力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663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B8D"/>
                </a:solidFill>
                <a:latin typeface="Microsoft YaHei"/>
              </a:defRPr>
            </a:pPr>
            <a:r>
              <a:t>Core Capabilities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71600" y="5257800"/>
            <a:ext cx="731520" cy="457200"/>
          </a:xfrm>
          <a:prstGeom prst="roundRect">
            <a:avLst/>
          </a:prstGeom>
          <a:solidFill>
            <a:srgbClr val="0E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52578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FFC8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5257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应用场景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257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B8D"/>
                </a:solidFill>
                <a:latin typeface="Microsoft YaHei"/>
              </a:defRPr>
            </a:pPr>
            <a:r>
              <a:t>Application Scenarios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371600" y="5852160"/>
            <a:ext cx="731520" cy="457200"/>
          </a:xfrm>
          <a:prstGeom prst="roundRect">
            <a:avLst/>
          </a:prstGeom>
          <a:solidFill>
            <a:srgbClr val="0E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71600" y="58521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FFC8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0" y="5852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未来展望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852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B8D"/>
                </a:solidFill>
                <a:latin typeface="Microsoft YaHei"/>
              </a:defRPr>
            </a:pPr>
            <a:r>
              <a:t>Future Vision</a:t>
            </a:r>
          </a:p>
        </p:txBody>
      </p:sp>
      <p:sp>
        <p:nvSpPr>
          <p:cNvPr id="33" name="Oval 32"/>
          <p:cNvSpPr/>
          <p:nvPr/>
        </p:nvSpPr>
        <p:spPr>
          <a:xfrm>
            <a:off x="9144000" y="1828800"/>
            <a:ext cx="2743200" cy="2743200"/>
          </a:xfrm>
          <a:prstGeom prst="ellipse">
            <a:avLst/>
          </a:prstGeom>
          <a:solidFill>
            <a:srgbClr val="0E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875520" y="2743200"/>
            <a:ext cx="1828800" cy="1828800"/>
          </a:xfrm>
          <a:prstGeom prst="ellipse">
            <a:avLst/>
          </a:prstGeom>
          <a:solidFill>
            <a:srgbClr val="11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01 公司概况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1828800" cy="38100"/>
          </a:xfrm>
          <a:prstGeom prst="rect">
            <a:avLst/>
          </a:prstGeom>
          <a:solidFill>
            <a:srgbClr val="00F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0332720" cy="2286000"/>
          </a:xfrm>
          <a:prstGeom prst="roundRect">
            <a:avLst/>
          </a:prstGeom>
          <a:solidFill>
            <a:srgbClr val="11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011680"/>
            <a:ext cx="9601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C4DE"/>
                </a:solidFill>
                <a:latin typeface="Microsoft YaHei"/>
              </a:defRPr>
            </a:pPr>
            <a:r>
              <a:t>东华软件股份公司（DHC Software）成立于2001年，2006年在深圳证券交易所上市（股票代码：002065）。</a:t>
            </a:r>
            <a:br/>
            <a:r>
              <a:t>公司是国内领先的软件与信息技术服务提供商，专注于为政府、金融、能源、医疗、电信等行业</a:t>
            </a:r>
            <a:br/>
            <a:r>
              <a:t>提供全方位的数字化解决方案。总部位于北京中关村科技园，在全国设有50余个分支机构。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572000"/>
            <a:ext cx="3017520" cy="914400"/>
          </a:xfrm>
          <a:prstGeom prst="roundRect">
            <a:avLst/>
          </a:prstGeom>
          <a:solidFill>
            <a:srgbClr val="0E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6177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FFC8"/>
                </a:solidFill>
                <a:latin typeface="Microsoft YaHei"/>
              </a:defRPr>
            </a:pPr>
            <a:r>
              <a:t>2001年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公司成立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4572000"/>
            <a:ext cx="3017520" cy="914400"/>
          </a:xfrm>
          <a:prstGeom prst="roundRect">
            <a:avLst/>
          </a:prstGeom>
          <a:solidFill>
            <a:srgbClr val="0E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46177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FFC8"/>
                </a:solidFill>
                <a:latin typeface="Microsoft YaHei"/>
              </a:defRPr>
            </a:pPr>
            <a:r>
              <a:t>2006年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5029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深交所上市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4572000"/>
            <a:ext cx="3017520" cy="914400"/>
          </a:xfrm>
          <a:prstGeom prst="roundRect">
            <a:avLst/>
          </a:prstGeom>
          <a:solidFill>
            <a:srgbClr val="0E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46177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FFC8"/>
                </a:solidFill>
                <a:latin typeface="Microsoft YaHei"/>
              </a:defRPr>
            </a:pPr>
            <a:r>
              <a:t>50+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5029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全国分支机构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669280"/>
            <a:ext cx="3017520" cy="914400"/>
          </a:xfrm>
          <a:prstGeom prst="roundRect">
            <a:avLst/>
          </a:prstGeom>
          <a:solidFill>
            <a:srgbClr val="0E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7150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FFC8"/>
                </a:solidFill>
                <a:latin typeface="Microsoft YaHei"/>
              </a:defRPr>
            </a:pPr>
            <a:r>
              <a:t>20+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126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年行业深耕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5669280"/>
            <a:ext cx="3017520" cy="914400"/>
          </a:xfrm>
          <a:prstGeom prst="roundRect">
            <a:avLst/>
          </a:prstGeom>
          <a:solidFill>
            <a:srgbClr val="0E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57150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FFC8"/>
                </a:solidFill>
                <a:latin typeface="Microsoft YaHei"/>
              </a:defRPr>
            </a:pPr>
            <a:r>
              <a:t>10000+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6126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专业团队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0" y="5669280"/>
            <a:ext cx="3017520" cy="914400"/>
          </a:xfrm>
          <a:prstGeom prst="roundRect">
            <a:avLst/>
          </a:prstGeom>
          <a:solidFill>
            <a:srgbClr val="0E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57150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FFC8"/>
                </a:solidFill>
                <a:latin typeface="Microsoft YaHei"/>
              </a:defRPr>
            </a:pPr>
            <a:r>
              <a:t>500+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6126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行业解决方案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02 核心业务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1828800" cy="38100"/>
          </a:xfrm>
          <a:prstGeom prst="rect">
            <a:avLst/>
          </a:prstGeom>
          <a:solidFill>
            <a:srgbClr val="00F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3017520" cy="2011680"/>
          </a:xfrm>
          <a:prstGeom prst="roundRect">
            <a:avLst/>
          </a:prstGeom>
          <a:solidFill>
            <a:srgbClr val="11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1945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00FFC8"/>
                </a:solidFill>
                <a:latin typeface="Microsoft YaHei"/>
              </a:defRPr>
            </a:pPr>
            <a:r>
              <a:t>🏛️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8346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智慧城市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2918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城市大脑·政务云</a:t>
            </a:r>
            <a:br/>
            <a:r>
              <a:t>智慧交通·平安城市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011680"/>
            <a:ext cx="3017520" cy="2011680"/>
          </a:xfrm>
          <a:prstGeom prst="roundRect">
            <a:avLst/>
          </a:prstGeom>
          <a:solidFill>
            <a:srgbClr val="11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1945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00FFC8"/>
                </a:solidFill>
                <a:latin typeface="Microsoft YaHei"/>
              </a:defRPr>
            </a:pPr>
            <a:r>
              <a:t>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8346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金融科技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2918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银行核心系统</a:t>
            </a:r>
            <a:br/>
            <a:r>
              <a:t>风险管理·数字金融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2011680"/>
            <a:ext cx="3017520" cy="2011680"/>
          </a:xfrm>
          <a:prstGeom prst="roundRect">
            <a:avLst/>
          </a:prstGeom>
          <a:solidFill>
            <a:srgbClr val="11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21945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00FFC8"/>
                </a:solidFill>
                <a:latin typeface="Microsoft YaHei"/>
              </a:defRPr>
            </a:pPr>
            <a:r>
              <a:t>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8346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智慧医疗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2918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医院信息化</a:t>
            </a:r>
            <a:br/>
            <a:r>
              <a:t>区域健康平台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297680"/>
            <a:ext cx="3017520" cy="2011680"/>
          </a:xfrm>
          <a:prstGeom prst="roundRect">
            <a:avLst/>
          </a:prstGeom>
          <a:solidFill>
            <a:srgbClr val="11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4805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00FFC8"/>
                </a:solidFill>
                <a:latin typeface="Microsoft YaHei"/>
              </a:defRPr>
            </a:pPr>
            <a:r>
              <a:t>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1206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能源电力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5778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智能电网</a:t>
            </a:r>
            <a:br/>
            <a:r>
              <a:t>能源管理系统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4297680"/>
            <a:ext cx="3017520" cy="2011680"/>
          </a:xfrm>
          <a:prstGeom prst="roundRect">
            <a:avLst/>
          </a:prstGeom>
          <a:solidFill>
            <a:srgbClr val="11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44805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00FFC8"/>
                </a:solidFill>
                <a:latin typeface="Microsoft YaHei"/>
              </a:defRPr>
            </a:pPr>
            <a:r>
              <a:t>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51206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人工智能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55778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AI Agent 平台</a:t>
            </a:r>
            <a:br/>
            <a:r>
              <a:t>智能对话·自动化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63840" y="4297680"/>
            <a:ext cx="3017520" cy="2011680"/>
          </a:xfrm>
          <a:prstGeom prst="roundRect">
            <a:avLst/>
          </a:prstGeom>
          <a:solidFill>
            <a:srgbClr val="11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0" y="44805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00FFC8"/>
                </a:solidFill>
                <a:latin typeface="Microsoft YaHei"/>
              </a:defRPr>
            </a:pPr>
            <a:r>
              <a:t>☁️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51206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云计算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55778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云原生架构</a:t>
            </a:r>
            <a:br/>
            <a:r>
              <a:t>混合云解决方案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03 技术实力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1828800" cy="38100"/>
          </a:xfrm>
          <a:prstGeom prst="rect">
            <a:avLst/>
          </a:prstGeom>
          <a:solidFill>
            <a:srgbClr val="00F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5029200" cy="4572000"/>
          </a:xfrm>
          <a:prstGeom prst="roundRect">
            <a:avLst/>
          </a:prstGeom>
          <a:solidFill>
            <a:srgbClr val="11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FFC8"/>
                </a:solidFill>
                <a:latin typeface="Microsoft YaHei"/>
              </a:defRPr>
            </a:pPr>
            <a:r>
              <a:t>🔧 核心技术栈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5176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C4DE"/>
                </a:solidFill>
                <a:latin typeface="Microsoft YaHei"/>
              </a:defRPr>
            </a:pPr>
            <a:r>
              <a:t>▸  Full-Stack 开发 (Next.js / React / TypeScript)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090672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C4DE"/>
                </a:solidFill>
                <a:latin typeface="Microsoft YaHei"/>
              </a:defRPr>
            </a:pPr>
            <a:r>
              <a:t>▸  Python 后端架构 (FastAPI / ACP 协议)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29584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C4DE"/>
                </a:solidFill>
                <a:latin typeface="Microsoft YaHei"/>
              </a:defRPr>
            </a:pPr>
            <a:r>
              <a:t>▸  AI Agent 框架 (自研 SoulMate 引擎)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968496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C4DE"/>
                </a:solidFill>
                <a:latin typeface="Microsoft YaHei"/>
              </a:defRPr>
            </a:pPr>
            <a:r>
              <a:t>▸  DNA 进化系统 (自适应能力演化)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0740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C4DE"/>
                </a:solidFill>
                <a:latin typeface="Microsoft YaHei"/>
              </a:defRPr>
            </a:pPr>
            <a:r>
              <a:t>▸  多模态大模型集成 (MIMO / GPT / Claude)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84632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C4DE"/>
                </a:solidFill>
                <a:latin typeface="Microsoft YaHei"/>
              </a:defRPr>
            </a:pPr>
            <a:r>
              <a:t>▸  桌面应用 (Tauri 跨平台)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285231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C4DE"/>
                </a:solidFill>
                <a:latin typeface="Microsoft YaHei"/>
              </a:defRPr>
            </a:pPr>
            <a:r>
              <a:t>▸  WebSocket 实时通信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724144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C4DE"/>
                </a:solidFill>
                <a:latin typeface="Microsoft YaHei"/>
              </a:defRPr>
            </a:pPr>
            <a:r>
              <a:t>▸  RAG 检索增强生成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828800"/>
            <a:ext cx="4846320" cy="4572000"/>
          </a:xfrm>
          <a:prstGeom prst="roundRect">
            <a:avLst/>
          </a:prstGeom>
          <a:solidFill>
            <a:srgbClr val="11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2011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FFC8"/>
                </a:solidFill>
                <a:latin typeface="Microsoft YaHei"/>
              </a:defRPr>
            </a:pPr>
            <a:r>
              <a:t>📊 技术能力矩阵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AI Agent 架构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2816352"/>
            <a:ext cx="2011680" cy="182880"/>
          </a:xfrm>
          <a:prstGeom prst="round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961120" y="2816352"/>
            <a:ext cx="1911096" cy="182880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64240" y="27432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FFC8"/>
                </a:solidFill>
                <a:latin typeface="Microsoft YaHei"/>
              </a:defRPr>
            </a:pPr>
            <a:r>
              <a:t>95%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383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大模型集成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3456432"/>
            <a:ext cx="2011680" cy="182880"/>
          </a:xfrm>
          <a:prstGeom prst="round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61120" y="3456432"/>
            <a:ext cx="1810512" cy="182880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64240" y="33832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FFC8"/>
                </a:solidFill>
                <a:latin typeface="Microsoft YaHei"/>
              </a:defRPr>
            </a:pPr>
            <a:r>
              <a:t>90%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023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全栈开发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20" y="4096512"/>
            <a:ext cx="2011680" cy="182880"/>
          </a:xfrm>
          <a:prstGeom prst="round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961120" y="4096512"/>
            <a:ext cx="1850745" cy="182880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064240" y="40233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FFC8"/>
                </a:solidFill>
                <a:latin typeface="Microsoft YaHei"/>
              </a:defRPr>
            </a:pPr>
            <a:r>
              <a:t>92%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4663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系统架构设计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20" y="4736592"/>
            <a:ext cx="2011680" cy="182880"/>
          </a:xfrm>
          <a:prstGeom prst="round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961120" y="4736592"/>
            <a:ext cx="1770278" cy="182880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064240" y="46634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FFC8"/>
                </a:solidFill>
                <a:latin typeface="Microsoft YaHei"/>
              </a:defRPr>
            </a:pPr>
            <a:r>
              <a:t>88%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5303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DevOps 自动化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61120" y="5376672"/>
            <a:ext cx="2011680" cy="182880"/>
          </a:xfrm>
          <a:prstGeom prst="round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961120" y="5376672"/>
            <a:ext cx="1709928" cy="182880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64240" y="5303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FFC8"/>
                </a:solidFill>
                <a:latin typeface="Microsoft YaHei"/>
              </a:defRPr>
            </a:pPr>
            <a:r>
              <a:t>85%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5943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安全合规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61120" y="6016752"/>
            <a:ext cx="2011680" cy="182880"/>
          </a:xfrm>
          <a:prstGeom prst="round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961120" y="6016752"/>
            <a:ext cx="1750161" cy="182880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064240" y="59436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FFC8"/>
                </a:solidFill>
                <a:latin typeface="Microsoft YaHei"/>
              </a:defRPr>
            </a:pPr>
            <a:r>
              <a:t>87%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04 OpenSoulMate — 下一代智能 AI Agent 平台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3657600" cy="38100"/>
          </a:xfrm>
          <a:prstGeom prst="rect">
            <a:avLst/>
          </a:prstGeom>
          <a:solidFill>
            <a:srgbClr val="00F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0332720" cy="1371600"/>
          </a:xfrm>
          <a:prstGeom prst="roundRect">
            <a:avLst/>
          </a:prstGeom>
          <a:solidFill>
            <a:srgbClr val="11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920240"/>
            <a:ext cx="9784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C4DE"/>
                </a:solidFill>
                <a:latin typeface="Microsoft YaHei"/>
              </a:defRPr>
            </a:pPr>
            <a:r>
              <a:t>OpenSoulMate 是一款具有“灵魂”的 AI Agent 平台，融合认知科学与大语言模型技术，</a:t>
            </a:r>
            <a:br/>
            <a:r>
              <a:t>打造具备自主思考、记忆沉淀、能力进化、风险评估的智能助手。</a:t>
            </a:r>
            <a:br/>
            <a:r>
              <a:t>基于 ACP（Agent Client Protocol）标准协议，支持多模型灵活切换，实现人机深度协作。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657600"/>
            <a:ext cx="2468880" cy="2926080"/>
          </a:xfrm>
          <a:prstGeom prst="roundRect">
            <a:avLst/>
          </a:prstGeom>
          <a:solidFill>
            <a:srgbClr val="0E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947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Microsoft YaHei"/>
              </a:defRPr>
            </a:pPr>
            <a:r>
              <a:t>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FFC8"/>
                </a:solidFill>
                <a:latin typeface="Microsoft YaHei"/>
              </a:defRPr>
            </a:pPr>
            <a:r>
              <a:t>Soul 认知引擎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93776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四层认知流水线</a:t>
            </a:r>
            <a:br/>
            <a:r>
              <a:t>感知→思考→决策→执行</a:t>
            </a:r>
            <a:br/>
            <a:r>
              <a:t>模拟人类大脑运作模式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3657600"/>
            <a:ext cx="2468880" cy="2926080"/>
          </a:xfrm>
          <a:prstGeom prst="roundRect">
            <a:avLst/>
          </a:prstGeom>
          <a:solidFill>
            <a:srgbClr val="0E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37947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Microsoft YaHei"/>
              </a:defRPr>
            </a:pPr>
            <a:r>
              <a:t>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4389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FFC8"/>
                </a:solidFill>
                <a:latin typeface="Microsoft YaHei"/>
              </a:defRPr>
            </a:pPr>
            <a:r>
              <a:t>DNA 进化系统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493776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自适应能力演化</a:t>
            </a:r>
            <a:br/>
            <a:r>
              <a:t>基因突变与能力扩展</a:t>
            </a:r>
            <a:br/>
            <a:r>
              <a:t>持续学习与自我优化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657600"/>
            <a:ext cx="2468880" cy="2926080"/>
          </a:xfrm>
          <a:prstGeom prst="roundRect">
            <a:avLst/>
          </a:prstGeom>
          <a:solidFill>
            <a:srgbClr val="0E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7947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Microsoft YaHei"/>
              </a:defRPr>
            </a:pPr>
            <a:r>
              <a:t>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389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FFC8"/>
                </a:solidFill>
                <a:latin typeface="Microsoft YaHei"/>
              </a:defRPr>
            </a:pPr>
            <a:r>
              <a:t>三层记忆架构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93776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短期·中期·长期记忆</a:t>
            </a:r>
            <a:br/>
            <a:r>
              <a:t>项目记忆·用户记忆</a:t>
            </a:r>
            <a:br/>
            <a:r>
              <a:t>经验记忆与知识沉淀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3657600"/>
            <a:ext cx="2468880" cy="2926080"/>
          </a:xfrm>
          <a:prstGeom prst="roundRect">
            <a:avLst/>
          </a:prstGeom>
          <a:solidFill>
            <a:srgbClr val="0E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40" y="37947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Microsoft YaHei"/>
              </a:defRPr>
            </a:pPr>
            <a:r>
              <a:t>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4389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FFC8"/>
                </a:solidFill>
                <a:latin typeface="Microsoft YaHei"/>
              </a:defRPr>
            </a:pPr>
            <a:r>
              <a:t>ACP 标准协议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493776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Agent-Client Protocol</a:t>
            </a:r>
            <a:br/>
            <a:r>
              <a:t>多模型灵活切换</a:t>
            </a:r>
            <a:br/>
            <a:r>
              <a:t>标准化 Agent 通信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05 OpenSoulMate 系统架构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3657600" cy="38100"/>
          </a:xfrm>
          <a:prstGeom prst="rect">
            <a:avLst/>
          </a:prstGeom>
          <a:solidFill>
            <a:srgbClr val="00F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1828800"/>
            <a:ext cx="9418320" cy="914400"/>
          </a:xfrm>
          <a:prstGeom prst="roundRect">
            <a:avLst/>
          </a:prstGeom>
          <a:solidFill>
            <a:srgbClr val="11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1828800"/>
            <a:ext cx="50800" cy="50800"/>
          </a:xfrm>
          <a:prstGeom prst="rect">
            <a:avLst/>
          </a:prstGeom>
          <a:solidFill>
            <a:srgbClr val="00F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745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FFC8"/>
                </a:solidFill>
                <a:latin typeface="Microsoft YaHei"/>
              </a:defRPr>
            </a:pPr>
            <a:r>
              <a:t>用户交互层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2860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Chat UI · 文件管理 · 任务面板 · 实时通信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7432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D4FF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3017520"/>
            <a:ext cx="9418320" cy="914400"/>
          </a:xfrm>
          <a:prstGeom prst="roundRect">
            <a:avLst/>
          </a:prstGeom>
          <a:solidFill>
            <a:srgbClr val="11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71600" y="3017520"/>
            <a:ext cx="50800" cy="508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30632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  <a:latin typeface="Microsoft YaHei"/>
              </a:defRPr>
            </a:pPr>
            <a:r>
              <a:t>Agent 认知层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4747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SoulBrain · 意图识别 · 风险评估 · 反思引擎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9319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D4FF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4206240"/>
            <a:ext cx="9418320" cy="914400"/>
          </a:xfrm>
          <a:prstGeom prst="roundRect">
            <a:avLst/>
          </a:prstGeom>
          <a:solidFill>
            <a:srgbClr val="11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71600" y="4206240"/>
            <a:ext cx="50800" cy="5080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45920" y="42519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C7"/>
                </a:solidFill>
                <a:latin typeface="Microsoft YaHei"/>
              </a:defRPr>
            </a:pPr>
            <a:r>
              <a:t>能力引擎层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6634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Skill Manager · Evolution Engine · DNA 进化 · 插件系统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51206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D4FF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5394960"/>
            <a:ext cx="9418320" cy="914400"/>
          </a:xfrm>
          <a:prstGeom prst="roundRect">
            <a:avLst/>
          </a:prstGeom>
          <a:solidFill>
            <a:srgbClr val="11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71600" y="5394960"/>
            <a:ext cx="50800" cy="50800"/>
          </a:xfrm>
          <a:prstGeom prst="rect">
            <a:avLst/>
          </a:prstGeom>
          <a:solidFill>
            <a:srgbClr val="0077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45920" y="54406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7B6"/>
                </a:solidFill>
                <a:latin typeface="Microsoft YaHei"/>
              </a:defRPr>
            </a:pPr>
            <a:r>
              <a:t>基础设施层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85216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LLM Engine · ACP Server · MCP Client · 数据持久化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1828800"/>
            <a:ext cx="822960" cy="4754880"/>
          </a:xfrm>
          <a:prstGeom prst="roundRect">
            <a:avLst/>
          </a:prstGeom>
          <a:solidFill>
            <a:srgbClr val="0E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3474720"/>
            <a:ext cx="822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FFC8"/>
                </a:solidFill>
                <a:latin typeface="Microsoft YaHei"/>
              </a:defRPr>
            </a:pPr>
            <a:r>
              <a:t>全</a:t>
            </a:r>
            <a:br/>
            <a:r>
              <a:t>栈</a:t>
            </a:r>
            <a:br/>
            <a:r>
              <a:t>架</a:t>
            </a:r>
            <a:br/>
            <a:r>
              <a:t>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06 核心能力详解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3657600" cy="38100"/>
          </a:xfrm>
          <a:prstGeom prst="rect">
            <a:avLst/>
          </a:prstGeom>
          <a:solidFill>
            <a:srgbClr val="00F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5029200" cy="2286000"/>
          </a:xfrm>
          <a:prstGeom prst="roundRect">
            <a:avLst/>
          </a:prstGeom>
          <a:solidFill>
            <a:srgbClr val="11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9659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FFC8"/>
                </a:solidFill>
                <a:latin typeface="Microsoft YaHei"/>
              </a:defRPr>
            </a:pPr>
            <a:r>
              <a:t>🧠 Soul 认知引擎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4231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✦  四层认知流水线：感知→思考→决策→执行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80720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✦  意图识别与任务分解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191256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✦  风险评估与安全策略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75304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✦  反思引擎 — 任务完成后的自我复盘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297680"/>
            <a:ext cx="5029200" cy="2286000"/>
          </a:xfrm>
          <a:prstGeom prst="roundRect">
            <a:avLst/>
          </a:prstGeom>
          <a:solidFill>
            <a:srgbClr val="11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44348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FFC8"/>
                </a:solidFill>
                <a:latin typeface="Microsoft YaHei"/>
              </a:defRPr>
            </a:pPr>
            <a:r>
              <a:t>🧬 DNA 进化系统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8920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✦  基因突变机制 — 自主创建新技能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27608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✦  能力验证与回滚保护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660136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✦  进化流水线 — 发现需求→生成代码→验证→部署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6044184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✦  持续学习与自我优化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828800"/>
            <a:ext cx="5029200" cy="2286000"/>
          </a:xfrm>
          <a:prstGeom prst="roundRect">
            <a:avLst/>
          </a:prstGeom>
          <a:solidFill>
            <a:srgbClr val="11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19659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FFC8"/>
                </a:solidFill>
                <a:latin typeface="Microsoft YaHei"/>
              </a:defRPr>
            </a:pPr>
            <a:r>
              <a:t>💾 三层记忆架构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4231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✦  短期记忆 — 当前会话上下文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80720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✦  中期记忆 — 任务执行历史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191256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✦  长期记忆 — 用户偏好与项目知识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575304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✦  经验记忆 — 成功/失败案例库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297680"/>
            <a:ext cx="5029200" cy="2286000"/>
          </a:xfrm>
          <a:prstGeom prst="roundRect">
            <a:avLst/>
          </a:prstGeom>
          <a:solidFill>
            <a:srgbClr val="11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44348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FFC8"/>
                </a:solidFill>
                <a:latin typeface="Microsoft YaHei"/>
              </a:defRPr>
            </a:pPr>
            <a:r>
              <a:t>🔌 插件生态系统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8920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✦  动态工具创建 (Dynamic Tool Creator)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527608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✦  MCP 工具集成 (Model Context Protocol)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5660136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✦  代码修复插件 (Self-Healing)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6044184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✦  实验管理器 — A/B 测试能力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07 应用场景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3657600" cy="38100"/>
          </a:xfrm>
          <a:prstGeom prst="rect">
            <a:avLst/>
          </a:prstGeom>
          <a:solidFill>
            <a:srgbClr val="00F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3200400" cy="2103120"/>
          </a:xfrm>
          <a:prstGeom prst="roundRect">
            <a:avLst/>
          </a:prstGeom>
          <a:solidFill>
            <a:srgbClr val="11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Microsoft YaHei"/>
              </a:defRPr>
            </a:pPr>
            <a:r>
              <a:t>👨‍💻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FFC8"/>
                </a:solidFill>
                <a:latin typeface="Microsoft YaHei"/>
              </a:defRPr>
            </a:pPr>
            <a:r>
              <a:t>智能编程助手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2004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代码生成 · Bug修复</a:t>
            </a:r>
            <a:br/>
            <a:r>
              <a:t>架构设计 · 代码审查</a:t>
            </a:r>
            <a:br/>
            <a:r>
              <a:t>全栈开发自动化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011680"/>
            <a:ext cx="3200400" cy="2103120"/>
          </a:xfrm>
          <a:prstGeom prst="roundRect">
            <a:avLst/>
          </a:prstGeom>
          <a:solidFill>
            <a:srgbClr val="11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1488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Microsoft YaHei"/>
              </a:defRPr>
            </a:pPr>
            <a:r>
              <a:t>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743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FFC8"/>
                </a:solidFill>
                <a:latin typeface="Microsoft YaHei"/>
              </a:defRPr>
            </a:pPr>
            <a:r>
              <a:t>项目管理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2004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任务拆解 · 进度追踪</a:t>
            </a:r>
            <a:br/>
            <a:r>
              <a:t>风险预警 · 自动报告</a:t>
            </a:r>
            <a:br/>
            <a:r>
              <a:t>团队协作增强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011680"/>
            <a:ext cx="3200400" cy="2103120"/>
          </a:xfrm>
          <a:prstGeom prst="roundRect">
            <a:avLst/>
          </a:prstGeom>
          <a:solidFill>
            <a:srgbClr val="11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21488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Microsoft YaHei"/>
              </a:defRPr>
            </a:pPr>
            <a: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743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FFC8"/>
                </a:solidFill>
                <a:latin typeface="Microsoft YaHei"/>
              </a:defRPr>
            </a:pPr>
            <a:r>
              <a:t>数据分析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2004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数据处理 · 可视化</a:t>
            </a:r>
            <a:br/>
            <a:r>
              <a:t>报告生成 · 趋势预测</a:t>
            </a:r>
            <a:br/>
            <a:r>
              <a:t>业务洞察自动化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389120"/>
            <a:ext cx="3200400" cy="2103120"/>
          </a:xfrm>
          <a:prstGeom prst="roundRect">
            <a:avLst/>
          </a:prstGeom>
          <a:solidFill>
            <a:srgbClr val="11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262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Microsoft YaHei"/>
              </a:defRPr>
            </a:pPr>
            <a:r>
              <a:t>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1206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FFC8"/>
                </a:solidFill>
                <a:latin typeface="Microsoft YaHei"/>
              </a:defRPr>
            </a:pPr>
            <a:r>
              <a:t>知识管理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5778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文档检索 · 知识图谱</a:t>
            </a:r>
            <a:br/>
            <a:r>
              <a:t>智能问答 · 经验沉淀</a:t>
            </a:r>
            <a:br/>
            <a:r>
              <a:t>组织记忆构建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4389120"/>
            <a:ext cx="3200400" cy="2103120"/>
          </a:xfrm>
          <a:prstGeom prst="roundRect">
            <a:avLst/>
          </a:prstGeom>
          <a:solidFill>
            <a:srgbClr val="11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45262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Microsoft YaHei"/>
              </a:defRPr>
            </a:pPr>
            <a:r>
              <a:t>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51206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FFC8"/>
                </a:solidFill>
                <a:latin typeface="Microsoft YaHei"/>
              </a:defRPr>
            </a:pPr>
            <a:r>
              <a:t>企业办公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55778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流程自动化 · 文档处理</a:t>
            </a:r>
            <a:br/>
            <a:r>
              <a:t>会议纪要 · 邮件管理</a:t>
            </a:r>
            <a:br/>
            <a:r>
              <a:t>效率提升 10x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4389120"/>
            <a:ext cx="3200400" cy="2103120"/>
          </a:xfrm>
          <a:prstGeom prst="roundRect">
            <a:avLst/>
          </a:prstGeom>
          <a:solidFill>
            <a:srgbClr val="11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0" y="45262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Microsoft YaHei"/>
              </a:defRPr>
            </a:pPr>
            <a:r>
              <a:t>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51206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FFC8"/>
                </a:solidFill>
                <a:latin typeface="Microsoft YaHei"/>
              </a:defRPr>
            </a:pPr>
            <a:r>
              <a:t>研发创新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55778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实验设计 · 技术调研</a:t>
            </a:r>
            <a:br/>
            <a:r>
              <a:t>方案评估 · 原型验证</a:t>
            </a:r>
            <a:br/>
            <a:r>
              <a:t>创新加速器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08 未来展望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3657600" cy="38100"/>
          </a:xfrm>
          <a:prstGeom prst="rect">
            <a:avLst/>
          </a:prstGeom>
          <a:solidFill>
            <a:srgbClr val="00F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45920" y="2286000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FFC8"/>
                </a:solidFill>
                <a:latin typeface="Microsoft YaHei"/>
              </a:defRPr>
            </a:pPr>
            <a:r>
              <a:t>2025 Q1-Q2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383280"/>
            <a:ext cx="2468880" cy="2286000"/>
          </a:xfrm>
          <a:prstGeom prst="roundRect">
            <a:avLst/>
          </a:prstGeom>
          <a:solidFill>
            <a:srgbClr val="11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5661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OpenSoulMate v1.0 发布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11480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完成核心 Agent 架构</a:t>
            </a:r>
            <a:br/>
            <a:r>
              <a:t>Soul 认知引擎上线</a:t>
            </a:r>
            <a:br/>
            <a:r>
              <a:t>DNA 进化系统 MVP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487168"/>
            <a:ext cx="27432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89120" y="2286000"/>
            <a:ext cx="457200" cy="457200"/>
          </a:xfrm>
          <a:prstGeom prst="ellipse">
            <a:avLst/>
          </a:prstGeom>
          <a:solidFill>
            <a:srgbClr val="0E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2834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FFC8"/>
                </a:solidFill>
                <a:latin typeface="Microsoft YaHei"/>
              </a:defRPr>
            </a:pPr>
            <a:r>
              <a:t>2025 Q3-Q4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3383280"/>
            <a:ext cx="2468880" cy="2286000"/>
          </a:xfrm>
          <a:prstGeom prst="roundRect">
            <a:avLst/>
          </a:prstGeom>
          <a:solidFill>
            <a:srgbClr val="11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0" y="35661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平台能力扩展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411480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多模态能力集成</a:t>
            </a:r>
            <a:br/>
            <a:r>
              <a:t>企业级部署方案</a:t>
            </a:r>
            <a:br/>
            <a:r>
              <a:t>插件生态建设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2487168"/>
            <a:ext cx="27432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132320" y="2286000"/>
            <a:ext cx="457200" cy="457200"/>
          </a:xfrm>
          <a:prstGeom prst="ellipse">
            <a:avLst/>
          </a:prstGeom>
          <a:solidFill>
            <a:srgbClr val="0E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834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FFC8"/>
                </a:solidFill>
                <a:latin typeface="Microsoft YaHei"/>
              </a:defRPr>
            </a:pPr>
            <a:r>
              <a:t>2026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383280"/>
            <a:ext cx="2468880" cy="2286000"/>
          </a:xfrm>
          <a:prstGeom prst="roundRect">
            <a:avLst/>
          </a:prstGeom>
          <a:solidFill>
            <a:srgbClr val="11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35661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商业化落地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11480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行业解决方案输出</a:t>
            </a:r>
            <a:br/>
            <a:r>
              <a:t>SaaS 平台上线</a:t>
            </a:r>
            <a:br/>
            <a:r>
              <a:t>合作伙伴生态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69680" y="2487168"/>
            <a:ext cx="27432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875520" y="2286000"/>
            <a:ext cx="457200" cy="457200"/>
          </a:xfrm>
          <a:prstGeom prst="ellipse">
            <a:avLst/>
          </a:prstGeom>
          <a:solidFill>
            <a:srgbClr val="0E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2834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FFC8"/>
                </a:solidFill>
                <a:latin typeface="Microsoft YaHei"/>
              </a:defRPr>
            </a:pPr>
            <a:r>
              <a:t>2027+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3383280"/>
            <a:ext cx="2468880" cy="2286000"/>
          </a:xfrm>
          <a:prstGeom prst="roundRect">
            <a:avLst/>
          </a:prstGeom>
          <a:solidFill>
            <a:srgbClr val="11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0" y="35661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生态愿景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411480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开源社区建设</a:t>
            </a:r>
            <a:br/>
            <a:r>
              <a:t>行业标准制定</a:t>
            </a:r>
            <a:br/>
            <a:r>
              <a:t>全球 AI Agent 生态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5669280"/>
            <a:ext cx="10332720" cy="731520"/>
          </a:xfrm>
          <a:prstGeom prst="roundRect">
            <a:avLst/>
          </a:prstGeom>
          <a:solidFill>
            <a:srgbClr val="0E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7607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🎯 愿景：让每一个人都拥有专属的 AI 灵魂伴侣，开启人机协作新纪元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0" y="1371600"/>
            <a:ext cx="3200400" cy="3200400"/>
          </a:xfrm>
          <a:prstGeom prst="ellipse">
            <a:avLst/>
          </a:prstGeom>
          <a:solidFill>
            <a:srgbClr val="0E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303520" y="2011680"/>
            <a:ext cx="2286000" cy="2286000"/>
          </a:xfrm>
          <a:prstGeom prst="ellipse">
            <a:avLst/>
          </a:prstGeom>
          <a:solidFill>
            <a:srgbClr val="11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56032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Microsoft YaHei"/>
              </a:defRPr>
            </a:pPr>
            <a:r>
              <a:t>感谢聆听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6576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4FF"/>
                </a:solidFill>
                <a:latin typeface="Microsoft YaHei"/>
              </a:defRPr>
            </a:pPr>
            <a: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4297680"/>
            <a:ext cx="2103120" cy="50800"/>
          </a:xfrm>
          <a:prstGeom prst="rect">
            <a:avLst/>
          </a:prstGeom>
          <a:solidFill>
            <a:srgbClr val="00F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45720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C4DE"/>
                </a:solidFill>
                <a:latin typeface="Microsoft YaHei"/>
              </a:defRPr>
            </a:pPr>
            <a:r>
              <a:t>东华软件股份公司 | DHC Software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0292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B8D"/>
                </a:solidFill>
                <a:latin typeface="Microsoft YaHei"/>
              </a:defRPr>
            </a:pPr>
            <a:r>
              <a:t>OpenSoulMate — 让 AI 拥有灵魂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